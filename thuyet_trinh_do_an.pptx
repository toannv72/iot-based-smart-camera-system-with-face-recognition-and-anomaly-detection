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914400" y="1828800"/>
            <a:ext cx="10362895" cy="3200400"/>
          </a:xfrm>
          <a:prstGeom prst="rect">
            <a:avLst/>
          </a:prstGeom>
          <a:noFill/>
        </p:spPr>
        <p:txBody>
          <a:bodyPr wrap="square" tIns="91440" bIns="91440">
            <a:spAutoFit/>
          </a:bodyPr>
          <a:lstStyle/>
          <a:p>
            <a:pPr>
              <a:spcAft>
                <a:spcPts val="1200"/>
              </a:spcAft>
              <a:defRPr sz="1400" b="1">
                <a:solidFill>
                  <a:srgbClr val="3B82F6"/>
                </a:solidFill>
                <a:latin typeface="Segoe UI"/>
              </a:defRPr>
            </a:pPr>
            <a:r>
              <a:t>BÁO CÁO LUẬN VĂN THẠC SĨ / ĐỒ ÁN TỐT NGHIỆP</a:t>
            </a:r>
          </a:p>
          <a:p>
            <a:pPr>
              <a:spcAft>
                <a:spcPts val="2400"/>
              </a:spcAft>
              <a:defRPr sz="3600" b="1">
                <a:solidFill>
                  <a:srgbClr val="FFFFFF"/>
                </a:solidFill>
                <a:latin typeface="Segoe UI"/>
              </a:defRPr>
            </a:pPr>
            <a:r>
              <a:t>HỆ THỐNG SMART CAMERA GIÁM SÁT ĐA NGUY CƠ BIÊN</a:t>
            </a:r>
            <a:br/>
            <a:r>
              <a:t>(EDGE AI)</a:t>
            </a:r>
          </a:p>
          <a:p>
            <a:pPr>
              <a:defRPr sz="1300">
                <a:solidFill>
                  <a:srgbClr val="9CA3AF"/>
                </a:solidFill>
                <a:latin typeface="Segoe UI"/>
              </a:defRPr>
            </a:pPr>
            <a:r>
              <a:t>Học viên thực hiện: Nguyễn Văn Toàn</a:t>
            </a:r>
            <a:br/>
            <a:r>
              <a:t>Ngành: Kỹ thuật Điện tử - Viễn thông</a:t>
            </a:r>
            <a:br/>
            <a:r>
              <a:t>Thiết bị triển khai: Raspberry Pi 4 Model B (8GB RAM)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GIỚI THIỆU</a:t>
            </a:r>
          </a:p>
          <a:p>
            <a:pPr>
              <a:defRPr sz="2800" b="1">
                <a:solidFill>
                  <a:srgbClr val="FFFFFF"/>
                </a:solidFill>
                <a:latin typeface="Segoe UI"/>
              </a:defRPr>
            </a:pPr>
            <a:r>
              <a:t>Đặt vấn đề &amp; Lý do chọn đề tài</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5303520" cy="4572000"/>
          </a:xfrm>
          <a:prstGeom prst="rect">
            <a:avLst/>
          </a:prstGeom>
          <a:noFill/>
        </p:spPr>
        <p:txBody>
          <a:bodyPr wrap="square" tIns="91440" bIns="91440">
            <a:spAutoFit/>
          </a:bodyPr>
          <a:lstStyle/>
          <a:p>
            <a:pPr>
              <a:spcBef>
                <a:spcPts val="600"/>
              </a:spcBef>
              <a:defRPr sz="1600" b="1">
                <a:solidFill>
                  <a:srgbClr val="3B82F6"/>
                </a:solidFill>
                <a:latin typeface="Segoe UI"/>
              </a:defRPr>
            </a:pPr>
            <a:r>
              <a:t>Thực trạng nguy cơ mất an toàn nội khu:</a:t>
            </a:r>
          </a:p>
          <a:p>
            <a:pPr>
              <a:spcBef>
                <a:spcPts val="800"/>
              </a:spcBef>
              <a:defRPr sz="1400" b="0">
                <a:solidFill>
                  <a:srgbClr val="F3F4F6"/>
                </a:solidFill>
                <a:latin typeface="Segoe UI"/>
              </a:defRPr>
            </a:pPr>
            <a:r>
              <a:t>• Nguy cơ từ con người: Trộm cắp, xâm nhập vùng cấm, tai nạn té ngã (người già, trẻ nhỏ).</a:t>
            </a:r>
          </a:p>
          <a:p>
            <a:pPr>
              <a:spcBef>
                <a:spcPts val="800"/>
              </a:spcBef>
              <a:defRPr sz="1400" b="0">
                <a:solidFill>
                  <a:srgbClr val="F3F4F6"/>
                </a:solidFill>
                <a:latin typeface="Segoe UI"/>
              </a:defRPr>
            </a:pPr>
            <a:r>
              <a:t>• Nguy cơ cháy nổ vật lý: Hỏa hoạn phát sinh bất ngờ, rò rỉ khí ga gây ngộ độc hoặc cháy nổ phòng bếp.</a:t>
            </a:r>
          </a:p>
          <a:p>
            <a:pPr>
              <a:spcBef>
                <a:spcPts val="800"/>
              </a:spcBef>
              <a:defRPr sz="1400" b="0">
                <a:solidFill>
                  <a:srgbClr val="F3F4F6"/>
                </a:solidFill>
                <a:latin typeface="Segoe UI"/>
              </a:defRPr>
            </a:pPr>
            <a:r>
              <a:t>• Cần cơ chế giám sát tổng hợp, đa chiều thay vì chỉ giám sát đơn lẻ.</a:t>
            </a:r>
          </a:p>
        </p:txBody>
      </p:sp>
      <p:sp>
        <p:nvSpPr>
          <p:cNvPr id="5" name="TextBox 4"/>
          <p:cNvSpPr txBox="1"/>
          <p:nvPr/>
        </p:nvSpPr>
        <p:spPr>
          <a:xfrm>
            <a:off x="6309360" y="1645920"/>
            <a:ext cx="5303520" cy="4572000"/>
          </a:xfrm>
          <a:prstGeom prst="rect">
            <a:avLst/>
          </a:prstGeom>
          <a:noFill/>
        </p:spPr>
        <p:txBody>
          <a:bodyPr wrap="square" tIns="91440" bIns="91440">
            <a:spAutoFit/>
          </a:bodyPr>
          <a:lstStyle/>
          <a:p>
            <a:pPr>
              <a:spcBef>
                <a:spcPts val="600"/>
              </a:spcBef>
              <a:defRPr sz="1600" b="1">
                <a:solidFill>
                  <a:srgbClr val="10B981"/>
                </a:solidFill>
                <a:latin typeface="Segoe UI"/>
              </a:defRPr>
            </a:pPr>
            <a:r>
              <a:t>Hạn chế của hệ thống cũ &amp; Giải pháp Edge AI:</a:t>
            </a:r>
          </a:p>
          <a:p>
            <a:pPr>
              <a:spcBef>
                <a:spcPts val="800"/>
              </a:spcBef>
              <a:defRPr sz="1400" b="0">
                <a:solidFill>
                  <a:srgbClr val="F3F4F6"/>
                </a:solidFill>
                <a:latin typeface="Segoe UI"/>
              </a:defRPr>
            </a:pPr>
            <a:r>
              <a:t>• Camera truyền thống: Chỉ ghi hình thụ động, thiếu cảnh báo chủ động hoặc xử lý Cloud tốn băng thông, trễ cao.</a:t>
            </a:r>
          </a:p>
          <a:p>
            <a:pPr>
              <a:spcBef>
                <a:spcPts val="800"/>
              </a:spcBef>
              <a:defRPr sz="1400" b="0">
                <a:solidFill>
                  <a:srgbClr val="F3F4F6"/>
                </a:solidFill>
                <a:latin typeface="Segoe UI"/>
              </a:defRPr>
            </a:pPr>
            <a:r>
              <a:t>• Giải pháp đề xuất (Edge AI): Đẩy toàn bộ quá trình suy luận mô hình AI xuống trực tiếp thiết bị biên (Raspberry Pi 4).</a:t>
            </a:r>
          </a:p>
          <a:p>
            <a:pPr>
              <a:spcBef>
                <a:spcPts val="800"/>
              </a:spcBef>
              <a:defRPr sz="1400" b="0">
                <a:solidFill>
                  <a:srgbClr val="F3F4F6"/>
                </a:solidFill>
                <a:latin typeface="Segoe UI"/>
              </a:defRPr>
            </a:pPr>
            <a:r>
              <a:t>• Lợi ích: Bảo mật dữ liệu hình ảnh, phản hồi tức thời dưới 1 giây, hoạt động độc lập không phụ thuộc kết nối Internet.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MỤC TIÊU</a:t>
            </a:r>
          </a:p>
          <a:p>
            <a:pPr>
              <a:defRPr sz="2800" b="1">
                <a:solidFill>
                  <a:srgbClr val="FFFFFF"/>
                </a:solidFill>
                <a:latin typeface="Segoe UI"/>
              </a:defRPr>
            </a:pPr>
            <a:r>
              <a:t>Mục tiêu &amp; Nhiệm vụ nghiên cứu</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10972800" cy="4572000"/>
          </a:xfrm>
          <a:prstGeom prst="rect">
            <a:avLst/>
          </a:prstGeom>
          <a:noFill/>
        </p:spPr>
        <p:txBody>
          <a:bodyPr wrap="square" tIns="91440" bIns="91440">
            <a:spAutoFit/>
          </a:bodyPr>
          <a:lstStyle/>
          <a:p>
            <a:pPr>
              <a:spcBef>
                <a:spcPts val="600"/>
              </a:spcBef>
              <a:defRPr sz="1800" b="1">
                <a:solidFill>
                  <a:srgbClr val="FFFFFF"/>
                </a:solidFill>
                <a:latin typeface="Segoe UI"/>
              </a:defRPr>
            </a:pPr>
            <a:r>
              <a:t>Hệ thống tích hợp đa nguy cơ hoàn chỉnh với 4 nhiệm vụ cốt lõi:</a:t>
            </a:r>
          </a:p>
          <a:p>
            <a:pPr>
              <a:spcBef>
                <a:spcPts val="1400"/>
              </a:spcBef>
              <a:defRPr sz="1500" b="1">
                <a:solidFill>
                  <a:srgbClr val="3B82F6"/>
                </a:solidFill>
                <a:latin typeface="Segoe UI"/>
              </a:defRPr>
            </a:pPr>
            <a:r>
              <a:t>1. Triển khai AI thị giác biên (Edge Computer Vision):</a:t>
            </a:r>
          </a:p>
          <a:p>
            <a:pPr>
              <a:spcBef>
                <a:spcPts val="400"/>
              </a:spcBef>
              <a:defRPr sz="1400" b="0">
                <a:solidFill>
                  <a:srgbClr val="F3F4F6"/>
                </a:solidFill>
                <a:latin typeface="Segoe UI"/>
              </a:defRPr>
            </a:pPr>
            <a:r>
              <a:t>    - Nhận diện khuôn mặt đeo khẩu trang (FaceNet + MTCNN) chỉ với 1 ảnh mẫu gốc.</a:t>
            </a:r>
          </a:p>
          <a:p>
            <a:pPr>
              <a:spcBef>
                <a:spcPts val="400"/>
              </a:spcBef>
              <a:defRPr sz="1400" b="0">
                <a:solidFill>
                  <a:srgbClr val="F3F4F6"/>
                </a:solidFill>
                <a:latin typeface="Segoe UI"/>
              </a:defRPr>
            </a:pPr>
            <a:r>
              <a:t>    - Phát hiện té ngã (YOLOv8-Pose/Fall) và Phát hiện đám cháy/khói (YOLOv8-Fire).</a:t>
            </a:r>
          </a:p>
          <a:p>
            <a:pPr>
              <a:spcBef>
                <a:spcPts val="1000"/>
              </a:spcBef>
              <a:defRPr sz="1500" b="1">
                <a:solidFill>
                  <a:srgbClr val="3B82F6"/>
                </a:solidFill>
                <a:latin typeface="Segoe UI"/>
              </a:defRPr>
            </a:pPr>
            <a:r>
              <a:t>2. Tích hợp cảm biến vật lý &amp; Cơ cấu chấp hành qua chân GPIO:</a:t>
            </a:r>
          </a:p>
          <a:p>
            <a:pPr>
              <a:spcBef>
                <a:spcPts val="400"/>
              </a:spcBef>
              <a:defRPr sz="1400" b="0">
                <a:solidFill>
                  <a:srgbClr val="F3F4F6"/>
                </a:solidFill>
                <a:latin typeface="Segoe UI"/>
              </a:defRPr>
            </a:pPr>
            <a:r>
              <a:t>    - Đọc trạng thái cảm biến khí ga MQ-2 và điều khiển rơ-le khóa cửa điện từ Solenoid cùng còi báo động tại chỗ.</a:t>
            </a:r>
          </a:p>
          <a:p>
            <a:pPr>
              <a:spcBef>
                <a:spcPts val="1000"/>
              </a:spcBef>
              <a:defRPr sz="1500" b="1">
                <a:solidFill>
                  <a:srgbClr val="3B82F6"/>
                </a:solidFill>
                <a:latin typeface="Segoe UI"/>
              </a:defRPr>
            </a:pPr>
            <a:r>
              <a:t>3. Phát triển ứng dụng Web Dashboard &amp; Telegram Bot 2 chiều:</a:t>
            </a:r>
          </a:p>
          <a:p>
            <a:pPr>
              <a:spcBef>
                <a:spcPts val="400"/>
              </a:spcBef>
              <a:defRPr sz="1400" b="0">
                <a:solidFill>
                  <a:srgbClr val="F3F4F6"/>
                </a:solidFill>
                <a:latin typeface="Segoe UI"/>
              </a:defRPr>
            </a:pPr>
            <a:r>
              <a:t>    - Xem live stream, cài đặt vùng an ninh, quản lý CSDL, mở cửa từ xa và nhận cảnh báo sự cố kèm ảnh chụp.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KIẾN TRÚC</a:t>
            </a:r>
          </a:p>
          <a:p>
            <a:pPr>
              <a:defRPr sz="2800" b="1">
                <a:solidFill>
                  <a:srgbClr val="FFFFFF"/>
                </a:solidFill>
                <a:latin typeface="Segoe UI"/>
              </a:defRPr>
            </a:pPr>
            <a:r>
              <a:t>Kiến trúc hệ thống tổng quan</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5486400" cy="4572000"/>
          </a:xfrm>
          <a:prstGeom prst="rect">
            <a:avLst/>
          </a:prstGeom>
          <a:noFill/>
        </p:spPr>
        <p:txBody>
          <a:bodyPr wrap="square" tIns="91440" bIns="91440">
            <a:spAutoFit/>
          </a:bodyPr>
          <a:lstStyle/>
          <a:p>
            <a:pPr>
              <a:spcBef>
                <a:spcPts val="600"/>
              </a:spcBef>
              <a:defRPr sz="1600" b="1">
                <a:solidFill>
                  <a:srgbClr val="3B82F6"/>
                </a:solidFill>
                <a:latin typeface="Segoe UI"/>
              </a:defRPr>
            </a:pPr>
            <a:r>
              <a:t>Sơ đồ luồng xử lý và dữ liệu:</a:t>
            </a:r>
          </a:p>
          <a:p>
            <a:pPr>
              <a:spcBef>
                <a:spcPts val="1200"/>
              </a:spcBef>
              <a:defRPr sz="1400" b="1">
                <a:solidFill>
                  <a:srgbClr val="FFFFFF"/>
                </a:solidFill>
                <a:latin typeface="Segoe UI"/>
              </a:defRPr>
            </a:pPr>
            <a:r>
              <a:t>• Input (Ngõ vào):</a:t>
            </a:r>
          </a:p>
          <a:p>
            <a:pPr>
              <a:spcBef>
                <a:spcPts val="200"/>
              </a:spcBef>
              <a:defRPr sz="1400" b="0">
                <a:solidFill>
                  <a:srgbClr val="F3F4F6"/>
                </a:solidFill>
                <a:latin typeface="Segoe UI"/>
              </a:defRPr>
            </a:pPr>
            <a:r>
              <a:t>    - USB Webcam (Live Stream hình ảnh).</a:t>
            </a:r>
          </a:p>
          <a:p>
            <a:pPr>
              <a:spcBef>
                <a:spcPts val="200"/>
              </a:spcBef>
              <a:defRPr sz="1400" b="0">
                <a:solidFill>
                  <a:srgbClr val="F3F4F6"/>
                </a:solidFill>
                <a:latin typeface="Segoe UI"/>
              </a:defRPr>
            </a:pPr>
            <a:r>
              <a:t>    - Cảm biến khí ga MQ-2 (Chân GPIO 18).</a:t>
            </a:r>
          </a:p>
          <a:p>
            <a:pPr>
              <a:spcBef>
                <a:spcPts val="1000"/>
              </a:spcBef>
              <a:defRPr sz="1400" b="1">
                <a:solidFill>
                  <a:srgbClr val="FFFFFF"/>
                </a:solidFill>
                <a:latin typeface="Segoe UI"/>
              </a:defRPr>
            </a:pPr>
            <a:r>
              <a:t>• Core (Trung tâm xử lý biên - Raspberry Pi 4):</a:t>
            </a:r>
          </a:p>
          <a:p>
            <a:pPr>
              <a:spcBef>
                <a:spcPts val="200"/>
              </a:spcBef>
              <a:defRPr sz="1400" b="0">
                <a:solidFill>
                  <a:srgbClr val="F3F4F6"/>
                </a:solidFill>
                <a:latin typeface="Segoe UI"/>
              </a:defRPr>
            </a:pPr>
            <a:r>
              <a:t>    - Khóa khóa đồng bộ (gpu_lock) đảm bảo suy luận tuần tự các mô hình AI.</a:t>
            </a:r>
          </a:p>
          <a:p>
            <a:pPr>
              <a:spcBef>
                <a:spcPts val="200"/>
              </a:spcBef>
              <a:defRPr sz="1400" b="0">
                <a:solidFill>
                  <a:srgbClr val="F3F4F6"/>
                </a:solidFill>
                <a:latin typeface="Segoe UI"/>
              </a:defRPr>
            </a:pPr>
            <a:r>
              <a:t>    - Hệ quản trị CSDL SQLite (Lưu trữ lịch sử sự kiện và tài khoản).</a:t>
            </a:r>
          </a:p>
        </p:txBody>
      </p:sp>
      <p:sp>
        <p:nvSpPr>
          <p:cNvPr id="5" name="TextBox 4"/>
          <p:cNvSpPr txBox="1"/>
          <p:nvPr/>
        </p:nvSpPr>
        <p:spPr>
          <a:xfrm>
            <a:off x="6492240" y="1645920"/>
            <a:ext cx="5120640" cy="4572000"/>
          </a:xfrm>
          <a:prstGeom prst="rect">
            <a:avLst/>
          </a:prstGeom>
          <a:noFill/>
        </p:spPr>
        <p:txBody>
          <a:bodyPr wrap="square" tIns="91440" bIns="91440">
            <a:spAutoFit/>
          </a:bodyPr>
          <a:lstStyle/>
          <a:p>
            <a:pPr>
              <a:spcBef>
                <a:spcPts val="600"/>
              </a:spcBef>
              <a:defRPr sz="1400" b="1">
                <a:solidFill>
                  <a:srgbClr val="FFFFFF"/>
                </a:solidFill>
                <a:latin typeface="Segoe UI"/>
              </a:defRPr>
            </a:pPr>
            <a:r>
              <a:t>• Output (Đầu ra &amp; Điều khiển):</a:t>
            </a:r>
          </a:p>
          <a:p>
            <a:pPr>
              <a:spcBef>
                <a:spcPts val="400"/>
              </a:spcBef>
              <a:defRPr sz="1400" b="0">
                <a:solidFill>
                  <a:srgbClr val="F3F4F6"/>
                </a:solidFill>
                <a:latin typeface="Segoe UI"/>
              </a:defRPr>
            </a:pPr>
            <a:r>
              <a:t>    - Còi báo húActive Buzzer (Chân GPIO 24) cảnh báo tại chỗ theo tần số nguy cơ.</a:t>
            </a:r>
          </a:p>
          <a:p>
            <a:pPr>
              <a:spcBef>
                <a:spcPts val="400"/>
              </a:spcBef>
              <a:defRPr sz="1400" b="0">
                <a:solidFill>
                  <a:srgbClr val="F3F4F6"/>
                </a:solidFill>
                <a:latin typeface="Segoe UI"/>
              </a:defRPr>
            </a:pPr>
            <a:r>
              <a:t>    - Module Rơ-le kích khóa chốt Solenoid (Chân GPIO 23) mở khóa cửa 3 giây.</a:t>
            </a:r>
          </a:p>
          <a:p>
            <a:pPr>
              <a:spcBef>
                <a:spcPts val="400"/>
              </a:spcBef>
              <a:defRPr sz="1400" b="0">
                <a:solidFill>
                  <a:srgbClr val="F3F4F6"/>
                </a:solidFill>
                <a:latin typeface="Segoe UI"/>
              </a:defRPr>
            </a:pPr>
            <a:r>
              <a:t>    - Giao tiếp Daemon Bot Telegram 2 chiều (Long Polling) nhận lệnh và gửi cảnh báo.</a:t>
            </a:r>
          </a:p>
          <a:p>
            <a:pPr>
              <a:spcBef>
                <a:spcPts val="400"/>
              </a:spcBef>
              <a:defRPr sz="1400" b="0">
                <a:solidFill>
                  <a:srgbClr val="F3F4F6"/>
                </a:solidFill>
                <a:latin typeface="Segoe UI"/>
              </a:defRPr>
            </a:pPr>
            <a:r>
              <a:t>    - Web Dashboard (FastAPI + SSE) cập nhật thông tin và điều khiển trực quan.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EDGE AI</a:t>
            </a:r>
          </a:p>
          <a:p>
            <a:pPr>
              <a:defRPr sz="2800" b="1">
                <a:solidFill>
                  <a:srgbClr val="FFFFFF"/>
                </a:solidFill>
                <a:latin typeface="Segoe UI"/>
              </a:defRPr>
            </a:pPr>
            <a:r>
              <a:t>Phân hệ Trí tuệ nhân tạo &amp; Tối ưu hóa Biên</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10972800" cy="4572000"/>
          </a:xfrm>
          <a:prstGeom prst="rect">
            <a:avLst/>
          </a:prstGeom>
          <a:noFill/>
        </p:spPr>
        <p:txBody>
          <a:bodyPr wrap="square" tIns="91440" bIns="91440">
            <a:spAutoFit/>
          </a:bodyPr>
          <a:lstStyle/>
          <a:p>
            <a:pPr>
              <a:spcBef>
                <a:spcPts val="600"/>
              </a:spcBef>
              <a:defRPr sz="1600" b="1">
                <a:solidFill>
                  <a:srgbClr val="FFFFFF"/>
                </a:solidFill>
                <a:latin typeface="Segoe UI"/>
              </a:defRPr>
            </a:pPr>
            <a:r>
              <a:t>Giải pháp nhận dạng và các kỹ thuật tối ưu hóa phần cứng biên:</a:t>
            </a:r>
          </a:p>
          <a:p>
            <a:pPr>
              <a:spcBef>
                <a:spcPts val="1200"/>
              </a:spcBef>
              <a:defRPr sz="1500" b="1">
                <a:solidFill>
                  <a:srgbClr val="3B82F6"/>
                </a:solidFill>
                <a:latin typeface="Segoe UI"/>
              </a:defRPr>
            </a:pPr>
            <a:r>
              <a:t>1. Nhận diện khuôn mặt đeo khẩu trang (Masked Face Recognition):</a:t>
            </a:r>
          </a:p>
          <a:p>
            <a:pPr>
              <a:spcBef>
                <a:spcPts val="400"/>
              </a:spcBef>
              <a:defRPr sz="1400" b="0">
                <a:solidFill>
                  <a:srgbClr val="F3F4F6"/>
                </a:solidFill>
                <a:latin typeface="Segoe UI"/>
              </a:defRPr>
            </a:pPr>
            <a:r>
              <a:t>    - Sử dụng cặp mô hình MTCNN (Phát hiện khuôn mặt) + FaceNet (Trích xuất đặc trưng L2-Norm 512 chiều).</a:t>
            </a:r>
          </a:p>
          <a:p>
            <a:pPr>
              <a:spcBef>
                <a:spcPts val="400"/>
              </a:spcBef>
              <a:defRPr sz="1400" b="0">
                <a:solidFill>
                  <a:srgbClr val="F3F4F6"/>
                </a:solidFill>
                <a:latin typeface="Segoe UI"/>
              </a:defRPr>
            </a:pPr>
            <a:r>
              <a:t>    - Thuật toán bôi đen 45% phần dưới mặt (mũi xuống cằm) trên ảnh đăng ký gốc [face[:, 88:, :] = 0.0] và luồng stream live [faces[:, :, 88:, :] = 0.0] giúp nhận diện người đeo khẩu trang chỉ với 1 ảnh mẫu gốc không khẩu trang.</a:t>
            </a:r>
          </a:p>
          <a:p>
            <a:pPr>
              <a:spcBef>
                <a:spcPts val="1200"/>
              </a:spcBef>
              <a:defRPr sz="1500" b="1">
                <a:solidFill>
                  <a:srgbClr val="3B82F6"/>
                </a:solidFill>
                <a:latin typeface="Segoe UI"/>
              </a:defRPr>
            </a:pPr>
            <a:r>
              <a:t>2. Tối ưu lực tính toán trên CPU biên của Raspberry Pi 4:</a:t>
            </a:r>
          </a:p>
          <a:p>
            <a:pPr>
              <a:spcBef>
                <a:spcPts val="400"/>
              </a:spcBef>
              <a:defRPr sz="1400" b="0">
                <a:solidFill>
                  <a:srgbClr val="F3F4F6"/>
                </a:solidFill>
                <a:latin typeface="Segoe UI"/>
              </a:defRPr>
            </a:pPr>
            <a:r>
              <a:t>    - Tắt gradient tính toán [with torch.no_grad():] giúp tiết kiệm tối đa dung lượng bộ nhớ RAM.</a:t>
            </a:r>
          </a:p>
          <a:p>
            <a:pPr>
              <a:spcBef>
                <a:spcPts val="400"/>
              </a:spcBef>
              <a:defRPr sz="1400" b="0">
                <a:solidFill>
                  <a:srgbClr val="F3F4F6"/>
                </a:solidFill>
                <a:latin typeface="Segoe UI"/>
              </a:defRPr>
            </a:pPr>
            <a:r>
              <a:t>    - Khóa khóa lock toàn cục [gpu_lock = threading.Lock()] tuần tự hóa quá trình suy luận mô hình AI của các camera, loại bỏ hoàn toàn nguy cơ quá tải RAM/CPU gây crash tiến trình biên.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KẾT QUẢ</a:t>
            </a:r>
          </a:p>
          <a:p>
            <a:pPr>
              <a:defRPr sz="2800" b="1">
                <a:solidFill>
                  <a:srgbClr val="FFFFFF"/>
                </a:solidFill>
                <a:latin typeface="Segoe UI"/>
              </a:defRPr>
            </a:pPr>
            <a:r>
              <a:t>Kết quả triển khai hệ thống an ninh biên</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5486400" cy="4572000"/>
          </a:xfrm>
          <a:prstGeom prst="rect">
            <a:avLst/>
          </a:prstGeom>
          <a:noFill/>
        </p:spPr>
        <p:txBody>
          <a:bodyPr wrap="square" tIns="91440" bIns="91440">
            <a:spAutoFit/>
          </a:bodyPr>
          <a:lstStyle/>
          <a:p>
            <a:pPr>
              <a:spcBef>
                <a:spcPts val="600"/>
              </a:spcBef>
              <a:defRPr sz="1600" b="1">
                <a:solidFill>
                  <a:srgbClr val="3B82F6"/>
                </a:solidFill>
                <a:latin typeface="Segoe UI"/>
              </a:defRPr>
            </a:pPr>
            <a:r>
              <a:t>Các tính năng đã triển khai thành công:</a:t>
            </a:r>
          </a:p>
          <a:p>
            <a:pPr>
              <a:spcBef>
                <a:spcPts val="800"/>
              </a:spcBef>
              <a:defRPr sz="1400" b="0">
                <a:solidFill>
                  <a:srgbClr val="F3F4F6"/>
                </a:solidFill>
                <a:latin typeface="Segoe UI"/>
              </a:defRPr>
            </a:pPr>
            <a:r>
              <a:t>• Camera giám sát live stream 15 FPS mượt mà trên nền tảng Web.</a:t>
            </a:r>
          </a:p>
          <a:p>
            <a:pPr>
              <a:spcBef>
                <a:spcPts val="800"/>
              </a:spcBef>
              <a:defRPr sz="1400" b="0">
                <a:solidFill>
                  <a:srgbClr val="F3F4F6"/>
                </a:solidFill>
                <a:latin typeface="Segoe UI"/>
              </a:defRPr>
            </a:pPr>
            <a:r>
              <a:t>• Thiết lập vùng an ninh ảo (ROI) trực tiếp bằng chuột trên Dashboard.</a:t>
            </a:r>
          </a:p>
          <a:p>
            <a:pPr>
              <a:spcBef>
                <a:spcPts val="800"/>
              </a:spcBef>
              <a:defRPr sz="1400" b="0">
                <a:solidFill>
                  <a:srgbClr val="F3F4F6"/>
                </a:solidFill>
                <a:latin typeface="Segoe UI"/>
              </a:defRPr>
            </a:pPr>
            <a:r>
              <a:t>• Ghi hình liên tục (Full Recording) chất lượng cao bằng codec H.264 (avc1) tích hợp OpenH264, hỗ trợ thanh tua (seek) mượt mà.</a:t>
            </a:r>
          </a:p>
          <a:p>
            <a:pPr>
              <a:spcBef>
                <a:spcPts val="800"/>
              </a:spcBef>
              <a:defRPr sz="1400" b="0">
                <a:solidFill>
                  <a:srgbClr val="F3F4F6"/>
                </a:solidFill>
                <a:latin typeface="Segoe UI"/>
              </a:defRPr>
            </a:pPr>
            <a:r>
              <a:t>• Quản lý đăng ký/xóa thông tin nhận diện khuôn mặt trực quan.</a:t>
            </a:r>
          </a:p>
        </p:txBody>
      </p:sp>
      <p:sp>
        <p:nvSpPr>
          <p:cNvPr id="5" name="TextBox 4"/>
          <p:cNvSpPr txBox="1"/>
          <p:nvPr/>
        </p:nvSpPr>
        <p:spPr>
          <a:xfrm>
            <a:off x="6492240" y="1645920"/>
            <a:ext cx="5120640" cy="4572000"/>
          </a:xfrm>
          <a:prstGeom prst="rect">
            <a:avLst/>
          </a:prstGeom>
          <a:noFill/>
        </p:spPr>
        <p:txBody>
          <a:bodyPr wrap="square" tIns="91440" bIns="91440">
            <a:spAutoFit/>
          </a:bodyPr>
          <a:lstStyle/>
          <a:p>
            <a:pPr>
              <a:spcBef>
                <a:spcPts val="600"/>
              </a:spcBef>
              <a:defRPr sz="1500" b="1">
                <a:solidFill>
                  <a:srgbClr val="10B981"/>
                </a:solidFill>
                <a:latin typeface="Segoe UI"/>
              </a:defRPr>
            </a:pPr>
            <a:r>
              <a:t>• Tương tác 2 chiều thông minh qua Telegram Bot:</a:t>
            </a:r>
          </a:p>
          <a:p>
            <a:pPr>
              <a:spcBef>
                <a:spcPts val="800"/>
              </a:spcBef>
              <a:defRPr sz="1400" b="0">
                <a:solidFill>
                  <a:srgbClr val="F3F4F6"/>
                </a:solidFill>
                <a:latin typeface="Segoe UI"/>
              </a:defRPr>
            </a:pPr>
            <a:r>
              <a:t>    - Tự động gửi cảnh báo sự cố kèm ảnh chụp và video ngắn khi phát hiện trộm, ngã hoặc cháy.</a:t>
            </a:r>
          </a:p>
          <a:p>
            <a:pPr>
              <a:spcBef>
                <a:spcPts val="800"/>
              </a:spcBef>
              <a:defRPr sz="1400" b="0">
                <a:solidFill>
                  <a:srgbClr val="F3F4F6"/>
                </a:solidFill>
                <a:latin typeface="Segoe UI"/>
              </a:defRPr>
            </a:pPr>
            <a:r>
              <a:t>    - Menu nút bấm tương tác Inline: Tắt còi, tạm ngưng cam, mở cửa từ xa.</a:t>
            </a:r>
          </a:p>
          <a:p>
            <a:pPr>
              <a:spcBef>
                <a:spcPts val="800"/>
              </a:spcBef>
              <a:defRPr sz="1400" b="0">
                <a:solidFill>
                  <a:srgbClr val="F3F4F6"/>
                </a:solidFill>
                <a:latin typeface="Segoe UI"/>
              </a:defRPr>
            </a:pPr>
            <a:r>
              <a:t>    - Lệnh văn bản: Bật/tắt chế độ khóa nhà an ninh cho từng camera riêng biệt qua lệnh /cameras hoặc /cam.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PHẦN CỨNG</a:t>
            </a:r>
          </a:p>
          <a:p>
            <a:pPr>
              <a:defRPr sz="2800" b="1">
                <a:solidFill>
                  <a:srgbClr val="FFFFFF"/>
                </a:solidFill>
                <a:latin typeface="Segoe UI"/>
              </a:defRPr>
            </a:pPr>
            <a:r>
              <a:t>Sơ đồ đấu nối dây thiết bị ngoại vi vật lý</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5486400" cy="4572000"/>
          </a:xfrm>
          <a:prstGeom prst="rect">
            <a:avLst/>
          </a:prstGeom>
          <a:noFill/>
        </p:spPr>
        <p:txBody>
          <a:bodyPr wrap="square" tIns="91440" bIns="91440">
            <a:spAutoFit/>
          </a:bodyPr>
          <a:lstStyle/>
          <a:p>
            <a:pPr>
              <a:spcBef>
                <a:spcPts val="600"/>
              </a:spcBef>
              <a:defRPr sz="1600" b="1">
                <a:solidFill>
                  <a:srgbClr val="3B82F6"/>
                </a:solidFill>
                <a:latin typeface="Segoe UI"/>
              </a:defRPr>
            </a:pPr>
            <a:r>
              <a:t>Kết nối chân GPIO Raspberry Pi 4:</a:t>
            </a:r>
          </a:p>
          <a:p>
            <a:pPr>
              <a:spcBef>
                <a:spcPts val="800"/>
              </a:spcBef>
              <a:defRPr sz="1400" b="0">
                <a:solidFill>
                  <a:srgbClr val="F3F4F6"/>
                </a:solidFill>
                <a:latin typeface="Segoe UI"/>
              </a:defRPr>
            </a:pPr>
            <a:r>
              <a:t>• Cảm biến Ga MQ-2: DO nối chân số 12 (GPIO 18), VCC nối chân 2, GND nối chân 9.</a:t>
            </a:r>
          </a:p>
          <a:p>
            <a:pPr>
              <a:spcBef>
                <a:spcPts val="800"/>
              </a:spcBef>
              <a:defRPr sz="1400" b="0">
                <a:solidFill>
                  <a:srgbClr val="F3F4F6"/>
                </a:solidFill>
                <a:latin typeface="Segoe UI"/>
              </a:defRPr>
            </a:pPr>
            <a:r>
              <a:t>• Module Rơ-le khóa Solenoid: IN nối chân số 16 (GPIO 23), VCC nối chân 4, GND nối chân 14.</a:t>
            </a:r>
          </a:p>
          <a:p>
            <a:pPr>
              <a:spcBef>
                <a:spcPts val="800"/>
              </a:spcBef>
              <a:defRPr sz="1400" b="0">
                <a:solidFill>
                  <a:srgbClr val="F3F4F6"/>
                </a:solidFill>
                <a:latin typeface="Segoe UI"/>
              </a:defRPr>
            </a:pPr>
            <a:r>
              <a:t>• Còi hú Active Buzzer: IN nối chân số 18 (GPIO 24), VCC nối chung chân 2, GND nối chung chân 14.</a:t>
            </a:r>
          </a:p>
          <a:p>
            <a:pPr>
              <a:spcBef>
                <a:spcPts val="800"/>
              </a:spcBef>
              <a:defRPr sz="1400" b="0">
                <a:solidFill>
                  <a:srgbClr val="F3F4F6"/>
                </a:solidFill>
                <a:latin typeface="Segoe UI"/>
              </a:defRPr>
            </a:pPr>
            <a:r>
              <a:t>• Quạt tản nhiệt CPU: Dây đỏ nối chân số 4, dây đen nối chân số 6.</a:t>
            </a:r>
          </a:p>
        </p:txBody>
      </p:sp>
      <p:sp>
        <p:nvSpPr>
          <p:cNvPr id="5" name="TextBox 4"/>
          <p:cNvSpPr txBox="1"/>
          <p:nvPr/>
        </p:nvSpPr>
        <p:spPr>
          <a:xfrm>
            <a:off x="6492240" y="1645920"/>
            <a:ext cx="5120640" cy="4572000"/>
          </a:xfrm>
          <a:prstGeom prst="rect">
            <a:avLst/>
          </a:prstGeom>
          <a:noFill/>
        </p:spPr>
        <p:txBody>
          <a:bodyPr wrap="square" tIns="91440" bIns="91440">
            <a:spAutoFit/>
          </a:bodyPr>
          <a:lstStyle/>
          <a:p>
            <a:pPr>
              <a:spcBef>
                <a:spcPts val="600"/>
              </a:spcBef>
              <a:defRPr sz="1500" b="1">
                <a:solidFill>
                  <a:srgbClr val="F59E0B"/>
                </a:solidFill>
                <a:latin typeface="Segoe UI"/>
              </a:defRPr>
            </a:pPr>
            <a:r>
              <a:t>• Lưu ý kỹ thuật quan trọng:</a:t>
            </a:r>
          </a:p>
          <a:p>
            <a:pPr>
              <a:spcBef>
                <a:spcPts val="800"/>
              </a:spcBef>
              <a:defRPr sz="1400" b="0">
                <a:solidFill>
                  <a:srgbClr val="F3F4F6"/>
                </a:solidFill>
                <a:latin typeface="Segoe UI"/>
              </a:defRPr>
            </a:pPr>
            <a:r>
              <a:t>    - Đấu song song nguồn VCC và Ground (GND) qua mini Breadboard để tối ưu hàng chân cắm của Pi.</a:t>
            </a:r>
          </a:p>
          <a:p>
            <a:pPr>
              <a:spcBef>
                <a:spcPts val="800"/>
              </a:spcBef>
              <a:defRPr sz="1400" b="0">
                <a:solidFill>
                  <a:srgbClr val="F3F4F6"/>
                </a:solidFill>
                <a:latin typeface="Segoe UI"/>
              </a:defRPr>
            </a:pPr>
            <a:r>
              <a:t>    - Sử dụng nguồn 12V độc lập cho khóa chốt Solenoid để tránh sụt áp đột ngột trên bo mạch Pi khi đóng ngắt khóa.</a:t>
            </a:r>
          </a:p>
          <a:p>
            <a:pPr>
              <a:spcBef>
                <a:spcPts val="800"/>
              </a:spcBef>
              <a:defRPr sz="1400" b="0">
                <a:solidFill>
                  <a:srgbClr val="F3F4F6"/>
                </a:solidFill>
                <a:latin typeface="Segoe UI"/>
              </a:defRPr>
            </a:pPr>
            <a:r>
              <a:t>    - Quét địa chỉ IP của Pi thông qua phần mềm Advanced IP Scanner trong cùng mạng 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ĐÓNG GÓP</a:t>
            </a:r>
          </a:p>
          <a:p>
            <a:pPr>
              <a:defRPr sz="2800" b="1">
                <a:solidFill>
                  <a:srgbClr val="FFFFFF"/>
                </a:solidFill>
                <a:latin typeface="Segoe UI"/>
              </a:defRPr>
            </a:pPr>
            <a:r>
              <a:t>Điểm mới &amp; Đóng góp của đề tài</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10972800" cy="4572000"/>
          </a:xfrm>
          <a:prstGeom prst="rect">
            <a:avLst/>
          </a:prstGeom>
          <a:noFill/>
        </p:spPr>
        <p:txBody>
          <a:bodyPr wrap="square" tIns="91440" bIns="91440">
            <a:spAutoFit/>
          </a:bodyPr>
          <a:lstStyle/>
          <a:p>
            <a:pPr>
              <a:spcBef>
                <a:spcPts val="600"/>
              </a:spcBef>
              <a:defRPr sz="1600" b="1">
                <a:solidFill>
                  <a:srgbClr val="FFFFFF"/>
                </a:solidFill>
                <a:latin typeface="Segoe UI"/>
              </a:defRPr>
            </a:pPr>
            <a:r>
              <a:t>Những điểm cải tiến cốt lõi so với các nghiên cứu trước đây:</a:t>
            </a:r>
          </a:p>
          <a:p>
            <a:pPr>
              <a:spcBef>
                <a:spcPts val="1200"/>
              </a:spcBef>
              <a:defRPr sz="1500" b="1">
                <a:solidFill>
                  <a:srgbClr val="3B82F6"/>
                </a:solidFill>
                <a:latin typeface="Segoe UI"/>
              </a:defRPr>
            </a:pPr>
            <a:r>
              <a:t>1. Giải pháp nhận diện người đeo khẩu trang tối giản:</a:t>
            </a:r>
          </a:p>
          <a:p>
            <a:pPr>
              <a:spcBef>
                <a:spcPts val="400"/>
              </a:spcBef>
              <a:defRPr sz="1400" b="0">
                <a:solidFill>
                  <a:srgbClr val="F3F4F6"/>
                </a:solidFill>
                <a:latin typeface="Segoe UI"/>
              </a:defRPr>
            </a:pPr>
            <a:r>
              <a:t>    - Chỉ cần đăng ký 1 ảnh mẫu không đeo khẩu trang duy nhất, hệ thống vẫn nhận dạng chính xác người đó khi đeo khẩu trang mà không cần huấn luyện lại hay thu thập tập dữ liệu lớn.</a:t>
            </a:r>
          </a:p>
          <a:p>
            <a:pPr>
              <a:spcBef>
                <a:spcPts val="1200"/>
              </a:spcBef>
              <a:defRPr sz="1500" b="1">
                <a:solidFill>
                  <a:srgbClr val="3B82F6"/>
                </a:solidFill>
                <a:latin typeface="Segoe UI"/>
              </a:defRPr>
            </a:pPr>
            <a:r>
              <a:t>2. Tích hợp đồng bộ AI Thị giác và Phần cứng IoT biên:</a:t>
            </a:r>
          </a:p>
          <a:p>
            <a:pPr>
              <a:spcBef>
                <a:spcPts val="400"/>
              </a:spcBef>
              <a:defRPr sz="1400" b="0">
                <a:solidFill>
                  <a:srgbClr val="F3F4F6"/>
                </a:solidFill>
                <a:latin typeface="Segoe UI"/>
              </a:defRPr>
            </a:pPr>
            <a:r>
              <a:t>    - Kết hợp chặt chẽ việc phát hiện nguy cơ bằng mô hình học sâu (YOLO/FaceNet) và giám sát khí ga vật lý, tự động kích hoạt còi báo động hú theo chu kỳ ưu tiên nguy hiểm cực kỳ linh hoạt.</a:t>
            </a:r>
          </a:p>
          <a:p>
            <a:pPr>
              <a:spcBef>
                <a:spcPts val="1200"/>
              </a:spcBef>
              <a:defRPr sz="1500" b="1">
                <a:solidFill>
                  <a:srgbClr val="3B82F6"/>
                </a:solidFill>
                <a:latin typeface="Segoe UI"/>
              </a:defRPr>
            </a:pPr>
            <a:r>
              <a:t>3. Tối ưu hóa Cross-platform &amp; Chống rò rỉ bộ nhớ:</a:t>
            </a:r>
          </a:p>
          <a:p>
            <a:pPr>
              <a:spcBef>
                <a:spcPts val="400"/>
              </a:spcBef>
              <a:defRPr sz="1400" b="0">
                <a:solidFill>
                  <a:srgbClr val="F3F4F6"/>
                </a:solidFill>
                <a:latin typeface="Segoe UI"/>
              </a:defRPr>
            </a:pPr>
            <a:r>
              <a:t>    - Hỗ trợ chạy giả lập khi thiếu thư viện RPi.GPIO (trên Laptop Windows/Mac của nhà phát triển) và bắt ngoại lệ GeneratorExit để giải phóng tài nguyên VideoWriter sạch sẽ.</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548640" y="365760"/>
            <a:ext cx="10972800" cy="1097280"/>
          </a:xfrm>
          <a:prstGeom prst="rect">
            <a:avLst/>
          </a:prstGeom>
          <a:noFill/>
        </p:spPr>
        <p:txBody>
          <a:bodyPr wrap="square" tIns="91440" bIns="91440">
            <a:spAutoFit/>
          </a:bodyPr>
          <a:lstStyle/>
          <a:p>
            <a:pPr>
              <a:spcAft>
                <a:spcPts val="200"/>
              </a:spcAft>
              <a:defRPr sz="1000" b="1">
                <a:solidFill>
                  <a:srgbClr val="3B82F6"/>
                </a:solidFill>
                <a:latin typeface="Segoe UI"/>
              </a:defRPr>
            </a:pPr>
            <a:r>
              <a:t>KẾT LUẬN</a:t>
            </a:r>
          </a:p>
          <a:p>
            <a:pPr>
              <a:defRPr sz="2800" b="1">
                <a:solidFill>
                  <a:srgbClr val="FFFFFF"/>
                </a:solidFill>
                <a:latin typeface="Segoe UI"/>
              </a:defRPr>
            </a:pPr>
            <a:r>
              <a:t>Kết luận &amp; Hướng phát triển</a:t>
            </a:r>
          </a:p>
        </p:txBody>
      </p:sp>
      <p:sp>
        <p:nvSpPr>
          <p:cNvPr id="3" name="Rectangle 2"/>
          <p:cNvSpPr/>
          <p:nvPr/>
        </p:nvSpPr>
        <p:spPr>
          <a:xfrm>
            <a:off x="548640" y="1280160"/>
            <a:ext cx="1371600" cy="36576"/>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5486400" cy="4572000"/>
          </a:xfrm>
          <a:prstGeom prst="rect">
            <a:avLst/>
          </a:prstGeom>
          <a:noFill/>
        </p:spPr>
        <p:txBody>
          <a:bodyPr wrap="square" tIns="91440" bIns="91440">
            <a:spAutoFit/>
          </a:bodyPr>
          <a:lstStyle/>
          <a:p>
            <a:pPr>
              <a:spcBef>
                <a:spcPts val="600"/>
              </a:spcBef>
              <a:defRPr sz="1600" b="1">
                <a:solidFill>
                  <a:srgbClr val="3B82F6"/>
                </a:solidFill>
                <a:latin typeface="Segoe UI"/>
              </a:defRPr>
            </a:pPr>
            <a:r>
              <a:t>Kết luận đồ án:</a:t>
            </a:r>
          </a:p>
          <a:p>
            <a:pPr>
              <a:spcBef>
                <a:spcPts val="1000"/>
              </a:spcBef>
              <a:defRPr sz="1400" b="0">
                <a:solidFill>
                  <a:srgbClr val="F3F4F6"/>
                </a:solidFill>
                <a:latin typeface="Segoe UI"/>
              </a:defRPr>
            </a:pPr>
            <a:r>
              <a:t>✓ Xây dựng thành công mô hình Smart Camera đa nguy cơ chạy thực tế ổn định trên Raspberry Pi 4.</a:t>
            </a:r>
          </a:p>
          <a:p>
            <a:pPr>
              <a:spcBef>
                <a:spcPts val="1000"/>
              </a:spcBef>
              <a:defRPr sz="1400" b="0">
                <a:solidFill>
                  <a:srgbClr val="F3F4F6"/>
                </a:solidFill>
                <a:latin typeface="Segoe UI"/>
              </a:defRPr>
            </a:pPr>
            <a:r>
              <a:t>✓ Tích hợp cảm biến ga và khóa cửa an ninh hoạt động trơn tru với độ trễ phản hồi dưới 1 giây.</a:t>
            </a:r>
          </a:p>
          <a:p>
            <a:pPr>
              <a:spcBef>
                <a:spcPts val="1000"/>
              </a:spcBef>
              <a:defRPr sz="1400" b="0">
                <a:solidFill>
                  <a:srgbClr val="F3F4F6"/>
                </a:solidFill>
                <a:latin typeface="Segoe UI"/>
              </a:defRPr>
            </a:pPr>
            <a:r>
              <a:t>✓ Hệ thống cảnh báo tự động qua Telegram và Web Dashboard đáp ứng tốt yêu cầu thực tế.</a:t>
            </a:r>
          </a:p>
        </p:txBody>
      </p:sp>
      <p:sp>
        <p:nvSpPr>
          <p:cNvPr id="5" name="TextBox 4"/>
          <p:cNvSpPr txBox="1"/>
          <p:nvPr/>
        </p:nvSpPr>
        <p:spPr>
          <a:xfrm>
            <a:off x="6492240" y="1645920"/>
            <a:ext cx="5120640" cy="4572000"/>
          </a:xfrm>
          <a:prstGeom prst="rect">
            <a:avLst/>
          </a:prstGeom>
          <a:noFill/>
        </p:spPr>
        <p:txBody>
          <a:bodyPr wrap="square" tIns="91440" bIns="91440">
            <a:spAutoFit/>
          </a:bodyPr>
          <a:lstStyle/>
          <a:p>
            <a:pPr>
              <a:spcBef>
                <a:spcPts val="600"/>
              </a:spcBef>
              <a:defRPr sz="1600" b="1">
                <a:solidFill>
                  <a:srgbClr val="10B981"/>
                </a:solidFill>
                <a:latin typeface="Segoe UI"/>
              </a:defRPr>
            </a:pPr>
            <a:r>
              <a:t>Hướng phát triển tương lai:</a:t>
            </a:r>
          </a:p>
          <a:p>
            <a:pPr>
              <a:spcBef>
                <a:spcPts val="1000"/>
              </a:spcBef>
              <a:defRPr sz="1400" b="0">
                <a:solidFill>
                  <a:srgbClr val="F3F4F6"/>
                </a:solidFill>
                <a:latin typeface="Segoe UI"/>
              </a:defRPr>
            </a:pPr>
            <a:r>
              <a:t>• Tối ưu hóa nén mô hình AI bằng công nghệ TensorRT, ONNX hoặc TensorFlow Lite để tăng tốc FPS lên trên 25 FPS.</a:t>
            </a:r>
          </a:p>
          <a:p>
            <a:pPr>
              <a:spcBef>
                <a:spcPts val="1000"/>
              </a:spcBef>
              <a:defRPr sz="1400" b="0">
                <a:solidFill>
                  <a:srgbClr val="F3F4F6"/>
                </a:solidFill>
                <a:latin typeface="Segoe UI"/>
              </a:defRPr>
            </a:pPr>
            <a:r>
              <a:t>• Tích hợp thêm các chip tăng tốc AI chuyên dụng (Google Coral Edge TPU, Intel Movidius).</a:t>
            </a:r>
          </a:p>
          <a:p>
            <a:pPr>
              <a:spcBef>
                <a:spcPts val="1000"/>
              </a:spcBef>
              <a:defRPr sz="1400" b="0">
                <a:solidFill>
                  <a:srgbClr val="F3F4F6"/>
                </a:solidFill>
                <a:latin typeface="Segoe UI"/>
              </a:defRPr>
            </a:pPr>
            <a:r>
              <a:t>• Mở rộng thêm nhiều tính năng an toàn như phát hiện đột nhập nâng cao, nhận diện hành vi bất thường khác.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TextBox 1"/>
          <p:cNvSpPr txBox="1"/>
          <p:nvPr/>
        </p:nvSpPr>
        <p:spPr>
          <a:xfrm>
            <a:off x="914400" y="2286000"/>
            <a:ext cx="10362895" cy="2743200"/>
          </a:xfrm>
          <a:prstGeom prst="rect">
            <a:avLst/>
          </a:prstGeom>
          <a:noFill/>
        </p:spPr>
        <p:txBody>
          <a:bodyPr wrap="square" tIns="91440" bIns="91440">
            <a:spAutoFit/>
          </a:bodyPr>
          <a:lstStyle/>
          <a:p>
            <a:pPr algn="ctr">
              <a:spcAft>
                <a:spcPts val="1200"/>
              </a:spcAft>
              <a:defRPr sz="4400" b="1">
                <a:solidFill>
                  <a:srgbClr val="3B82F6"/>
                </a:solidFill>
                <a:latin typeface="Segoe UI"/>
              </a:defRPr>
            </a:pPr>
            <a:r>
              <a:t>XIN CHÂN THÀNH CẢM ƠN!</a:t>
            </a:r>
          </a:p>
          <a:p>
            <a:pPr algn="ctr">
              <a:defRPr sz="1800" i="1">
                <a:solidFill>
                  <a:srgbClr val="F3F4F6"/>
                </a:solidFill>
                <a:latin typeface="Segoe UI"/>
              </a:defRPr>
            </a:pPr>
            <a:r>
              <a:t>Kính mong nhận được ý kiến đóng góp của Hội đồng thầy cô giáo!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